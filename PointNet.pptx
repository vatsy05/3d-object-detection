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2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chair</c:v>
                  </c:pt>
                  <c:pt idx="1">
                    <c:v>table</c:v>
                  </c:pt>
                  <c:pt idx="2">
                    <c:v>sofa</c:v>
                  </c:pt>
                  <c:pt idx="3">
                    <c:v>lamp</c:v>
                  </c:pt>
                  <c:pt idx="4">
                    <c:v>bed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</c:v>
                </c:pt>
                <c:pt idx="1">
                  <c:v>0.03</c:v>
                </c:pt>
                <c:pt idx="2">
                  <c:v>0.02</c:v>
                </c:pt>
                <c:pt idx="3">
                  <c:v>0.02</c:v>
                </c:pt>
                <c:pt idx="4">
                  <c:v>0.01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0A2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25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146304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00584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164592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12801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945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6517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228600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1089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47472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31089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35661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201168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37160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0233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44805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420624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3192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429768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9377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3949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502920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530352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0" y="49377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283464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182880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365760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8521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594360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0240" y="621792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585216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612648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566928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512064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6160" y="4572000"/>
            <a:ext cx="109728" cy="109728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1463040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68880" y="3566160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6126480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937760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0" y="1828800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14630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PointNet</a:t>
            </a:r>
            <a:endParaRPr lang="en-US" sz="6400" dirty="0"/>
          </a:p>
        </p:txBody>
      </p:sp>
      <p:sp>
        <p:nvSpPr>
          <p:cNvPr id="43" name="Shape 41"/>
          <p:cNvSpPr/>
          <p:nvPr/>
        </p:nvSpPr>
        <p:spPr>
          <a:xfrm>
            <a:off x="5120640" y="2606040"/>
            <a:ext cx="54864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on Point Sets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5120640" y="33832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technical walkthrough — architecture, classification,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and the road to PointNet++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2345C"/>
          </a:solidFill>
          <a:ln w="12700">
            <a:solidFill>
              <a:srgbClr val="1234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6492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Qi, Su, Mo &amp; Guibas — Stanford University (CVPR 2017)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of this Presentation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9C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7465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 Data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98424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learning struggled with 3D before PointNet.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440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691640"/>
            <a:ext cx="73152" cy="56692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78040" y="17465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Clouds Explained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198424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point cloud is and how it differs from images.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5440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331720"/>
            <a:ext cx="73152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404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9C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23865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Alternatives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262432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Voxels, meshes, sorting tricks, and RNN-based ideas.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331720"/>
            <a:ext cx="5440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2331720"/>
            <a:ext cx="73152" cy="56692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404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78040" y="23865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Point Sets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78040" y="262432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Unordered. Local interaction. Transformation invariance.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5440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971800"/>
            <a:ext cx="73152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044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9C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17320" y="30266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Architecture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326440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network as proposed in the paper.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971800"/>
            <a:ext cx="5440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2971800"/>
            <a:ext cx="73152" cy="56692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044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178040" y="30266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Pipeline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78040" y="326440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Module-by-module walkthrough of the algorithm.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611880"/>
            <a:ext cx="5440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3611880"/>
            <a:ext cx="73152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6850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9C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41732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Network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417320" y="39044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global features and the 1088-dim trick.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3611880"/>
            <a:ext cx="5440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3611880"/>
            <a:ext cx="73152" cy="56692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6850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17804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&amp; PointNet++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78040" y="39044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PointNet misses and why PointNet++ exists.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PointNet Was Needed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was thriving on regular data — but 3D was a wall.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118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73152" cy="13258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816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of pixels — fixed neighborhood.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2011680"/>
            <a:ext cx="36118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52544" y="2011680"/>
            <a:ext cx="73152" cy="13258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81144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/ Transformers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81144" y="2816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ordered tokens.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6448" y="2011680"/>
            <a:ext cx="36118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56448" y="2011680"/>
            <a:ext cx="73152" cy="13258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85048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conv / sequence models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5048" y="2816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sampled waveforms.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91672" cy="2377440"/>
          </a:xfrm>
          <a:prstGeom prst="rect">
            <a:avLst/>
          </a:prstGeom>
          <a:solidFill>
            <a:srgbClr val="FFF7ED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657600"/>
            <a:ext cx="73152" cy="23774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794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3D point clouds broke every assumption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8680" y="42519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rows can be shuffled and the object is still the same.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grid, no fixed neighbors, no canonical layout.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size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scan can return 1k points or 100k, all valid.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to rigid motion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rotation and translation must not change the label.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Point Cloud?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0350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73152" cy="45720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cloud is a set of points sampled from the surface of a 3D object — typically captured by LiDAR, depth cameras, or photogrammetry.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=  { p₁ , p₂ , p₃ , … , p_n }     where     pᵢ = ( x , y , z 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an  N × 3  matrix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3200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⎡⎢⎣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0" y="4206240"/>
            <a:ext cx="3200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⎤⎥⎦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68680" y="4206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4206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7480" y="4206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590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4590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4590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974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83080" y="4974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97480" y="4974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53583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⋮  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83080" y="53583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⋮  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97480" y="53583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⋮  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897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a single point. Columns = (x, y, z).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1600200"/>
            <a:ext cx="4828032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12280" y="1600200"/>
            <a:ext cx="73152" cy="45720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·  LiDAR scan of a chair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37490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8587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96849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407822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18795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22208" y="37490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22208" y="38587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22208" y="396849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22208" y="407822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22208" y="418795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14816" y="37490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14816" y="38587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14816" y="396849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14816" y="407822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14816" y="418795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07424" y="37490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7424" y="38587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07424" y="396849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07424" y="407822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07424" y="418795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00032" y="37490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00032" y="38587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00032" y="396849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00032" y="407822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00032" y="418795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92640" y="37490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92640" y="38587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92640" y="396849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92640" y="407822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692640" y="418795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85248" y="37490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85248" y="38587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85248" y="396849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985248" y="407822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85248" y="418795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277856" y="37490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277856" y="38587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277856" y="396849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77856" y="407822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277856" y="418795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29600" y="24688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0" y="265176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29600" y="2834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29600" y="301752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29600" y="32004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33832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22208" y="24688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22208" y="265176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22208" y="2834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22208" y="301752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522208" y="32004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22208" y="33832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14816" y="24688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814816" y="265176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814816" y="2834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14816" y="301752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814816" y="32004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814816" y="33832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107424" y="24688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107424" y="265176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107424" y="2834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107424" y="301752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107424" y="32004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107424" y="33832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400032" y="24688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400032" y="265176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00032" y="2834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400032" y="301752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400032" y="32004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400032" y="33832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692640" y="24688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692640" y="265176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692640" y="2834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692640" y="301752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692640" y="32004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692640" y="33832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985248" y="24688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985248" y="265176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985248" y="2834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985248" y="301752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985248" y="32004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985248" y="33832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277856" y="24688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277856" y="265176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277856" y="2834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277856" y="301752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277856" y="32004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277856" y="338328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321040" y="41148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321040" y="43159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321040" y="451713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321040" y="471830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321040" y="491947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321040" y="5120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321040" y="532180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875520" y="41148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875520" y="43159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875520" y="451713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875520" y="471830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875520" y="491947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875520" y="5120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875520" y="532180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321040" y="41148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321040" y="43159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321040" y="451713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321040" y="471830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321040" y="491947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321040" y="5120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321040" y="532180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875520" y="41148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875520" y="431596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875520" y="451713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875520" y="471830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875520" y="491947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875520" y="512064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875520" y="532180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193024" y="2432304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241280" y="2432304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284464" y="5449824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838944" y="5449824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04088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(x,y,z) samples — no grid, no ordering.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152" name="Text 15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Alternatives Before PointNet  ·  Part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tried to force point clouds into something CNNs could handle.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541264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73152" cy="4160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Voxelization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3D space as a grid of cubes (like Minecraft) and run a 3-D CNN.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063240"/>
            <a:ext cx="246888" cy="246888"/>
          </a:xfrm>
          <a:prstGeom prst="rect">
            <a:avLst/>
          </a:prstGeom>
          <a:solidFill>
            <a:srgbClr val="2EC4B6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33756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61188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886200"/>
            <a:ext cx="246888" cy="246888"/>
          </a:xfrm>
          <a:prstGeom prst="rect">
            <a:avLst/>
          </a:prstGeom>
          <a:solidFill>
            <a:srgbClr val="2EC4B6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306324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333756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3611880"/>
            <a:ext cx="246888" cy="246888"/>
          </a:xfrm>
          <a:prstGeom prst="rect">
            <a:avLst/>
          </a:prstGeom>
          <a:solidFill>
            <a:srgbClr val="2EC4B6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388620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306324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3337560"/>
            <a:ext cx="246888" cy="246888"/>
          </a:xfrm>
          <a:prstGeom prst="rect">
            <a:avLst/>
          </a:prstGeom>
          <a:solidFill>
            <a:srgbClr val="2EC4B6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361188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7320" y="388620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3063240"/>
            <a:ext cx="246888" cy="246888"/>
          </a:xfrm>
          <a:prstGeom prst="rect">
            <a:avLst/>
          </a:prstGeom>
          <a:solidFill>
            <a:srgbClr val="2EC4B6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91640" y="333756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91640" y="3611880"/>
            <a:ext cx="246888" cy="246888"/>
          </a:xfrm>
          <a:prstGeom prst="rect">
            <a:avLst/>
          </a:prstGeom>
          <a:solidFill>
            <a:srgbClr val="2EC4B6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91640" y="3886200"/>
            <a:ext cx="246888" cy="246888"/>
          </a:xfrm>
          <a:prstGeom prst="rect">
            <a:avLst/>
          </a:prstGeom>
          <a:solidFill>
            <a:srgbClr val="2EC4B6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65960" y="306324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65960" y="333756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65960" y="3611880"/>
            <a:ext cx="246888" cy="246888"/>
          </a:xfrm>
          <a:prstGeom prst="rect">
            <a:avLst/>
          </a:prstGeom>
          <a:solidFill>
            <a:srgbClr val="2EC4B6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5960" y="388620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306324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337560"/>
            <a:ext cx="246888" cy="246888"/>
          </a:xfrm>
          <a:prstGeom prst="rect">
            <a:avLst/>
          </a:prstGeom>
          <a:solidFill>
            <a:srgbClr val="2EC4B6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361188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3886200"/>
            <a:ext cx="246888" cy="246888"/>
          </a:xfrm>
          <a:prstGeom prst="rect">
            <a:avLst/>
          </a:prstGeom>
          <a:solidFill>
            <a:srgbClr val="E2E8F0">
              <a:alpha val="5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297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4572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blows up cubically with resolution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cells are empty — wasted compute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surface detail is lost to quantization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45352" y="2011680"/>
            <a:ext cx="53949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45352" y="2011680"/>
            <a:ext cx="73152" cy="41605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Polygon Meshes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473952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points into triangles or polygons and reason over surfaces.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83680" y="3474720"/>
            <a:ext cx="640080" cy="-27432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3200400"/>
            <a:ext cx="548640" cy="36576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3566160"/>
            <a:ext cx="640080" cy="-27432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0" y="3291840"/>
            <a:ext cx="640080" cy="32004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23760" y="3200400"/>
            <a:ext cx="822960" cy="82296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0" y="3566160"/>
            <a:ext cx="274320" cy="45720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12480" y="3291840"/>
            <a:ext cx="-365760" cy="73152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46720" y="4023360"/>
            <a:ext cx="-1097280" cy="-9144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49440" y="3931920"/>
            <a:ext cx="548640" cy="-27432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98080" y="3657600"/>
            <a:ext cx="-274320" cy="-45720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98080" y="3657600"/>
            <a:ext cx="274320" cy="-9144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28816" y="3419856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68896" y="3145536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17536" y="3511296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57616" y="3236976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97696" y="3557016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91856" y="3968496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94576" y="3877056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43216" y="3602736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73952" y="4297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473952" y="45720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is irregular — hard for CNN-style kernels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quality depends on reconstruction pipeline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must be computed up-front; not raw data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Alternatives Before PointNet  ·  Part 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attempts tried to keep points raw — and ran into the ordering problem.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541264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73152" cy="4160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Sorting the Points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N points by some rule (e.g., x then y then z), then feed them into a standard network.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total order on ℝ³ is stable under perturbation — a tiny noise can flip the sort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would have to learn the sorting rule, which defeats the purpose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Empirically, sorted MLPs perform poorly compared to permutation-invariant designs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2011680"/>
            <a:ext cx="53949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5352" y="2011680"/>
            <a:ext cx="73152" cy="41605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Recurrent Networks (RNNs)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73952" y="2514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point cloud as a sequence and process it with an LSTM/GRU, hoping order won't matter.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73952" y="3383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73952" y="370332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are inherently order-sensitive — different shuffles give different outputs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scale to thousands of points per object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 across points are weakly modeled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Properties of Point Sets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network that processes raw point sets must respect these three properties.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73152" cy="13716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600200" y="21214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Unordered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Invariance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2788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cloud is a SET, not a sequence. Shuffling the rows of the N×3 matrix does not change the underlying object, so the network output must be identical under any permutation.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240280"/>
            <a:ext cx="333756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423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 x₁, x₂, …, xₙ )  =  f( x_π(1), x_π(2), …, x_π(n) 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916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520440"/>
            <a:ext cx="73152" cy="13716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576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600200" y="3630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Interaction among points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4297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are not isolated — neighbors form meaningful local geometry (edges, surfaces, corners). The model should be able to combine information from nearby points to capture shape.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3749040"/>
            <a:ext cx="333756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3931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neighborhood( pᵢ )   ⟶   local descriptor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916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5029200"/>
            <a:ext cx="73152" cy="1371600"/>
          </a:xfrm>
          <a:prstGeom prst="rect">
            <a:avLst/>
          </a:prstGeom>
          <a:solidFill>
            <a:srgbClr val="199C90"/>
          </a:solidFill>
          <a:ln w="12700">
            <a:solidFill>
              <a:srgbClr val="199C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166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9C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600200" y="51389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Invariance under transformation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0020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Motion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00200" y="5806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or translating the whole object does not change what it is. A rotated chair is still a chair, so labels must remain stable under rigid transformations applied to all points jointly.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5257800"/>
            <a:ext cx="333756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5440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 R·X + t )  =  f( X )      for rotation R and translation 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PointNet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shared by classification and segmentation.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32588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1945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92808" y="2697480"/>
            <a:ext cx="2651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76272" y="2194560"/>
            <a:ext cx="1325880" cy="10058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21992" y="21945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T-Net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2697480"/>
            <a:ext cx="2651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03904" y="2194560"/>
            <a:ext cx="1325880" cy="10058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9624" y="21945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MLP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(64, 64)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48072" y="2697480"/>
            <a:ext cx="2651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31536" y="2194560"/>
            <a:ext cx="1325880" cy="10058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77256" y="21945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T-Net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75704" y="2697480"/>
            <a:ext cx="2651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59168" y="2194560"/>
            <a:ext cx="1325880" cy="1005840"/>
          </a:xfrm>
          <a:prstGeom prst="rect">
            <a:avLst/>
          </a:prstGeom>
          <a:solidFill>
            <a:srgbClr val="199C90"/>
          </a:solidFill>
          <a:ln w="12700">
            <a:solidFill>
              <a:srgbClr val="199C9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04888" y="21945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MLP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(64,128,1024)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03336" y="2697480"/>
            <a:ext cx="2651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86800" y="2194560"/>
            <a:ext cx="1325880" cy="10058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32520" y="21945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30968" y="2697480"/>
            <a:ext cx="2651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314432" y="2194560"/>
            <a:ext cx="132588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60152" y="21945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(512,256,k)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246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76272" y="3246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03904" y="3246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64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31536" y="3246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64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59168" y="3246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1024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0" y="3246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× 1024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314432" y="3246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classes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657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  →  one label per object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160520"/>
            <a:ext cx="11091672" cy="1828800"/>
          </a:xfrm>
          <a:prstGeom prst="rect">
            <a:avLst/>
          </a:prstGeom>
          <a:solidFill>
            <a:srgbClr val="FFF7ED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4160520"/>
            <a:ext cx="73152" cy="18288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2702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branch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68680" y="4663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per-point features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× 64)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concatenate with the repeated global feature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× 1024)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× 1088)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Feed through another shared MLP to produce a label for every point.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8680" y="5349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→  n × m   (per-point class scores)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 ·  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Transform — The First T-Net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5836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 — align the input coordinates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can arrive in any orientation. T-Net learns a small 3×3 transformation matrix that rotates and scales the point cloud into a canonical pose before feature extraction.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6217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T-Net is itself a mini-PointNet:  shared MLP  →  max-pool  →  fully-connected layers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outputs the 9 entries of a 3×3 matrix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 point is multiplied by this matrix:  x' = T · x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auto-aligning every chair to face forward before classification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69480" y="1554480"/>
            <a:ext cx="437083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69480" y="1554480"/>
            <a:ext cx="73152" cy="46634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flow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2286000"/>
            <a:ext cx="146304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98280" y="269748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46920" y="2286000"/>
            <a:ext cx="1691640" cy="8229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46920" y="2286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 matrix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3200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⊗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595360" y="3886200"/>
            <a:ext cx="1828800" cy="822960"/>
          </a:xfrm>
          <a:prstGeom prst="rect">
            <a:avLst/>
          </a:prstGeom>
          <a:solidFill>
            <a:srgbClr val="12345C"/>
          </a:solidFill>
          <a:ln w="12700">
            <a:solidFill>
              <a:srgbClr val="12345C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0" y="3886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4937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—  rotation-aligned point cloud,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feature extraction.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 ·  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MLP — Per-Point Feature Lift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5836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 — lift each point into a 64-D feature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is passed independently through the same small neural network:  3 → 64 → 64. The SAME weights are reused for all N points — this is what 'shared' means.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share the weights?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Order-agnostic — every point gets the same operator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a 1×1 convolution over the N × C tensor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Drastically fewer parameters than a dense N-input layer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now carries a learned local descriptor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69480" y="1554480"/>
            <a:ext cx="437083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69480" y="1554480"/>
            <a:ext cx="73152" cy="46634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weights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2377440"/>
            <a:ext cx="14173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(x₁, y₁, z₁)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2624328"/>
            <a:ext cx="365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72600" y="2377440"/>
            <a:ext cx="109728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2377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5600" y="2624328"/>
            <a:ext cx="3200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835640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64-D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3291840"/>
            <a:ext cx="14173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3291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(x₂, y₂, z₂)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0" y="3538728"/>
            <a:ext cx="365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372600" y="3291840"/>
            <a:ext cx="109728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3291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15600" y="3538728"/>
            <a:ext cx="3200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0835640" y="3337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64-D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0" y="4206240"/>
            <a:ext cx="14173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4206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(x₃, y₃, z₃)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61120" y="4453128"/>
            <a:ext cx="365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72600" y="4206240"/>
            <a:ext cx="109728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4206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515600" y="4453128"/>
            <a:ext cx="3200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835640" y="4251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64-D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0" y="5349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weights applied independently to every point  →  n × 64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 ·  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Transform — Aligning the 64-D Space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5836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second T-Net — for features, not coordinates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each point has a 64-D feature, PointNet applies another T-Net to align the FEATURE space. This time the learned matrix is 64 × 64.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again?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6217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coordinate alignment, learned features can still vary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64×64 transform realigns the feature space across instances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64×64 matrices are hard to optimize  ⟶  a regularization term keeps the matrix close to orthogonal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stability and modestly improves accuracy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69480" y="1554480"/>
            <a:ext cx="437083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69480" y="1554480"/>
            <a:ext cx="73152" cy="46634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2240280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240487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256946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273405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289864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306324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322783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339242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355701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372160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388620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18120" y="405079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82712" y="224028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82712" y="2404872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82712" y="256946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82712" y="273405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82712" y="289864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82712" y="306324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82712" y="322783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82712" y="339242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82712" y="355701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82712" y="372160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82712" y="388620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82712" y="405079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47304" y="224028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47304" y="240487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47304" y="2569464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47304" y="273405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47304" y="289864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47304" y="306324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47304" y="322783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47304" y="339242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47304" y="355701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47304" y="372160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47304" y="388620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47304" y="405079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11896" y="224028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11896" y="240487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1896" y="256946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11896" y="2734056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11896" y="289864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11896" y="306324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11896" y="322783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11896" y="339242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11896" y="355701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11896" y="372160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11896" y="388620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11896" y="405079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76488" y="224028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76488" y="240487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76488" y="256946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76488" y="273405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76488" y="2898648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76488" y="306324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76488" y="322783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76488" y="339242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476488" y="355701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76488" y="372160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76488" y="388620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476488" y="405079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641080" y="224028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641080" y="240487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641080" y="256946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41080" y="273405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41080" y="289864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41080" y="3063240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641080" y="322783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41080" y="339242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41080" y="355701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641080" y="372160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641080" y="388620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41080" y="405079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805672" y="224028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805672" y="240487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805672" y="256946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805672" y="273405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805672" y="289864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805672" y="306324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805672" y="3227832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805672" y="339242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05672" y="355701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805672" y="372160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805672" y="388620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805672" y="405079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70264" y="224028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70264" y="240487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970264" y="256946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970264" y="273405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970264" y="289864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970264" y="306324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970264" y="322783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970264" y="3392424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970264" y="355701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70264" y="372160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970264" y="388620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970264" y="405079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34856" y="224028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134856" y="240487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134856" y="256946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134856" y="273405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34856" y="289864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134856" y="306324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134856" y="322783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134856" y="339242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134856" y="3557016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134856" y="372160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134856" y="388620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134856" y="405079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299448" y="224028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299448" y="240487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299448" y="256946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299448" y="273405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299448" y="289864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299448" y="306324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299448" y="322783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299448" y="339242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299448" y="355701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299448" y="3721608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299448" y="388620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299448" y="405079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464040" y="224028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464040" y="240487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464040" y="256946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464040" y="273405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464040" y="289864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464040" y="306324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464040" y="322783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464040" y="339242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464040" y="355701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464040" y="372160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464040" y="3886200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464040" y="405079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628632" y="224028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628632" y="240487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628632" y="256946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628632" y="273405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28632" y="289864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628632" y="306324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628632" y="3227832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628632" y="3392424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628632" y="3557016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628632" y="3721608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628632" y="3886200"/>
            <a:ext cx="148133" cy="148133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628632" y="4050792"/>
            <a:ext cx="148133" cy="148133"/>
          </a:xfrm>
          <a:prstGeom prst="rect">
            <a:avLst/>
          </a:prstGeom>
          <a:solidFill>
            <a:srgbClr val="2EC4B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498080" y="4434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64 × 64 feature-space matrix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7498080" y="4846320"/>
            <a:ext cx="4023360" cy="11887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589520" y="4937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Regularizer:  </a:t>
            </a:r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 I − A·Aᵀ ‖²</a:t>
            </a:r>
            <a:endParaRPr lang="en-US" sz="1200" dirty="0"/>
          </a:p>
        </p:txBody>
      </p:sp>
      <p:sp>
        <p:nvSpPr>
          <p:cNvPr id="161" name="Text 159"/>
          <p:cNvSpPr/>
          <p:nvPr/>
        </p:nvSpPr>
        <p:spPr>
          <a:xfrm>
            <a:off x="7589520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transform close to an orthogonal matrix so features don't collapse.</a:t>
            </a:r>
            <a:endParaRPr lang="en-US" sz="1100" dirty="0"/>
          </a:p>
        </p:txBody>
      </p:sp>
      <p:sp>
        <p:nvSpPr>
          <p:cNvPr id="162" name="Text 16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163" name="Text 16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 ·  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Shared MLP — 64 → 128 → 1024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5836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each point's descriptor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aligned 64-D point feature is passed through another shared MLP — 64 → 128 → 1024 — independently per point.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learned along the way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6217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— simple geometric primitives (edges, planar patches)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layers — curves, corners, surface motifs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layers — semantic patterns: 'leg-like', 'flat-surface-like'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point, each point still has NO knowledge of the others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69480" y="1554480"/>
            <a:ext cx="437083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69480" y="1554480"/>
            <a:ext cx="73152" cy="46634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Per-point feature dimension grows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5394960"/>
            <a:ext cx="914400" cy="3657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8120" y="5074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5029200"/>
            <a:ext cx="914400" cy="731520"/>
          </a:xfrm>
          <a:prstGeom prst="rect">
            <a:avLst/>
          </a:prstGeom>
          <a:solidFill>
            <a:srgbClr val="199C90"/>
          </a:solidFill>
          <a:ln w="12700">
            <a:solidFill>
              <a:srgbClr val="199C9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0684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195560" y="3017520"/>
            <a:ext cx="914400" cy="2743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19556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5779008"/>
            <a:ext cx="365760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5897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n × 1024  per-point features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 ·  STEP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Pooling — The Key Insight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solidFill>
            <a:srgbClr val="FFF7ED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11887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Combining N points into ONE shape vector — without caring about order.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one of the 1024 feature columns, take the maximum value across all N points. Result: a single 1 × 1024 GLOBAL feature vector.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541264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33375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permutation-invariant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9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max( 1 , 5 , 2 )  =  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9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max( 2 , 1 , 5 )  =  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389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 operator is symmetric — shuffling its inputs cannot change its output. That is exactly the property we need for an unordered point set.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5440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 x₁, …, xₙ )  =  γ ∘ MAX{ h(x₁), …, h(xₙ) 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form proved in the paper — any symmetric function on point sets can be approximated this way.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5352" y="2880360"/>
            <a:ext cx="53949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45352" y="2880360"/>
            <a:ext cx="73152" cy="33375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Points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73952" y="3383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SPARSE subset of points 'wins' the max in each feature column. These winners — the critical points — form the learned shape skeleton.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521208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5285232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0496" y="521208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0496" y="5285232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59952" y="521208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59952" y="5285232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79408" y="521208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79408" y="5285232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98864" y="521208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98864" y="5285232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18320" y="521208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18320" y="5285232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466344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480060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493776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40496" y="466344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40496" y="480060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40496" y="493776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59952" y="466344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59952" y="480060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59952" y="493776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79408" y="466344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79408" y="480060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79408" y="493776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98864" y="466344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98864" y="480060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98864" y="493776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18320" y="466344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18320" y="480060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18320" y="493776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5320" y="539496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75320" y="5504688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75320" y="5614416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75320" y="5724144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35440" y="539496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35440" y="5504688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35440" y="5614416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35440" y="5724144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75320" y="539496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75320" y="5504688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75320" y="5614416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75320" y="5724144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35440" y="5394960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235440" y="5504688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35440" y="5614416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35440" y="5724144"/>
            <a:ext cx="54864" cy="54864"/>
          </a:xfrm>
          <a:prstGeom prst="ellipse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93608" y="4636008"/>
            <a:ext cx="146304" cy="14630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99448" y="4636008"/>
            <a:ext cx="146304" cy="14630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47888" y="5779008"/>
            <a:ext cx="146304" cy="14630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08008" y="5779008"/>
            <a:ext cx="146304" cy="14630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13064" y="5184648"/>
            <a:ext cx="146304" cy="14630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73952" y="5989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points (orange) dominate the max-pool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 ·  STEP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Head  &amp;  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5836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global feature to class label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 × 1024 global feature vector is fed into a fully-connected classifier:  1024 → 512 → 256 → k, where k is the number of object classes.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6217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softmax over k classes:  one score per category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is standard cross-entropy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T-Net orthogonality regularizer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ModelNet40 has k = 40 (chair, table, lamp, sofa, …)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69480" y="1554480"/>
            <a:ext cx="437083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69480" y="1554480"/>
            <a:ext cx="73152" cy="46634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  ·  softmax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452360" y="2194560"/>
          <a:ext cx="4023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Label to Per-Point Labels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answers 'what is this object?'  ·  Segmentation answers 'what is each point?'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541264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73152" cy="4160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·  point cloud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·  ONE class label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5074920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3977640"/>
            <a:ext cx="1097280" cy="164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3154680"/>
            <a:ext cx="164592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154680"/>
            <a:ext cx="1097280" cy="164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4160520"/>
            <a:ext cx="109728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4160520"/>
            <a:ext cx="109728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9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'chair'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7150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 ·  scope = entire object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45352" y="2011680"/>
            <a:ext cx="53949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45352" y="2011680"/>
            <a:ext cx="73152" cy="41605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103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73952" y="2560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·  point cloud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73952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·  a label for EACH point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73952" y="3291840"/>
            <a:ext cx="4937760" cy="237744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66760" y="3977640"/>
            <a:ext cx="1097280" cy="1645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3154680"/>
            <a:ext cx="164592" cy="9144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66760" y="3154680"/>
            <a:ext cx="1097280" cy="16459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4160520"/>
            <a:ext cx="109728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0" y="4160520"/>
            <a:ext cx="109728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5166360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5129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5166360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5129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784080" y="5166360"/>
            <a:ext cx="164592" cy="164592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2680" y="5129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73952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labels  ·  scope = each point individually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+ Global Fusion  ·  the 1088-dim Trick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max-pool alone is not enough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max-pooling, the network has a single 1×1024 shape vector — it knows 'this is a chair', but has lost per-point identity. Segmentation needs both.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194560" cy="914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64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2194560" cy="9144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shape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1024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429768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46120" y="3840480"/>
            <a:ext cx="21945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1024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3063240"/>
            <a:ext cx="3154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3063240"/>
            <a:ext cx="0" cy="1280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32120" y="2788920"/>
            <a:ext cx="256032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2788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1088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329184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732520" y="2788920"/>
            <a:ext cx="1554480" cy="1005840"/>
          </a:xfrm>
          <a:prstGeom prst="rect">
            <a:avLst/>
          </a:prstGeom>
          <a:solidFill>
            <a:srgbClr val="199C90"/>
          </a:solidFill>
          <a:ln w="12700">
            <a:solidFill>
              <a:srgbClr val="199C9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32520" y="2788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MLP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512→256→128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332720" y="329184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835640" y="2788920"/>
            <a:ext cx="804672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835640" y="2788920"/>
            <a:ext cx="804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91672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846320"/>
            <a:ext cx="73152" cy="13716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1088?    64  (local)  +  1024  (global)  =  1088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now answers two questions at once  —  'What do I locally look like?' and 'What overall object am I part of?' — letting the MLP assign part labels (seat, back, leg, …) with full context.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 · 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Weaknesses &amp; the Need for PointNet++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541264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Weaknesses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processes each point independently — only combining them with a single, global max-pool. This is also its biggest blind spot.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neighborhood structure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points are never explicitly grouped or compared.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fine-grained local geometry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surface patterns, curvature, and corners get blurred.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global representation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patterns at multiple scales are not captured.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55448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A254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5352" y="1554480"/>
            <a:ext cx="73152" cy="4663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PointNet++  ·  the fix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73952" y="2148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PointNet recursively on local neighborhoods — building a hierarchy similar to a CNN over images.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73952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layer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subset of representative centroids via farthest-point sampling.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layer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local regions using ball-query or k-NN around each centroid.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9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on each region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local features  →  repeat at coarser scales  →  multi-scale hierarchy.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  ·  Deep Learning on Point Sets for 3D Classification &amp; Segmentation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457200"/>
            <a:ext cx="164592" cy="164592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868680"/>
            <a:ext cx="164592" cy="164592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0" y="411480"/>
            <a:ext cx="164592" cy="164592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1143000"/>
            <a:ext cx="164592" cy="164592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1417320"/>
            <a:ext cx="164592" cy="164592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0" y="1691640"/>
            <a:ext cx="164592" cy="164592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18520" y="685800"/>
            <a:ext cx="201168" cy="20116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Based on the original research paper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574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PointNet: Deep Learning on Point Sets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3D Classification and Segmentation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Charles R. Qi  ·  Hao Su  ·  Kaichun Mo  ·  Leonidas J. Guibas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University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CVPR 2017  —  IEEE Conference on Computer Vision and Pattern Recognition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345C"/>
          </a:solidFill>
          <a:ln w="12700">
            <a:solidFill>
              <a:srgbClr val="1234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PointNet: Deep Learning on Point Sets</dc:title>
  <dc:subject>PptxGenJS Presentation</dc:subject>
  <dc:creator>PointNet Study Deck</dc:creator>
  <cp:lastModifiedBy>PointNet Study Deck</cp:lastModifiedBy>
  <cp:revision>1</cp:revision>
  <dcterms:created xsi:type="dcterms:W3CDTF">2026-05-19T18:31:51Z</dcterms:created>
  <dcterms:modified xsi:type="dcterms:W3CDTF">2026-05-19T18:31:51Z</dcterms:modified>
</cp:coreProperties>
</file>